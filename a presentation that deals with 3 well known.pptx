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7" r:id="rId2"/>
    <p:sldId id="256" r:id="rId3"/>
    <p:sldId id="258" r:id="rId4"/>
    <p:sldId id="259"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fr-FR" smtClean="0"/>
              <a:t>Modifiez le style du titre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Modifiez le style des sous-titres du masque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4/6/2021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idx="1"/>
          </p:nvPr>
        </p:nvSpPr>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9796027F-7875-4030-9381-8BD8C4F21935}" type="datetimeFigureOut">
              <a:rPr lang="en-US" dirty="0"/>
              <a:t>4/6/2021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fr-FR" smtClean="0"/>
              <a:t>Modifiez le style du titre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9796027F-7875-4030-9381-8BD8C4F21935}" type="datetimeFigureOut">
              <a:rPr lang="en-US" dirty="0"/>
              <a:t>4/6/2021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dirty="0"/>
              <a:t>4/6/2021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smtClean="0"/>
              <a:t>Modifiez le style du titre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dirty="0"/>
              <a:t>4/6/2021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4/6/2021</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4/6/2021</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3" cy="1447800"/>
          </a:xfrm>
        </p:spPr>
        <p:txBody>
          <a:bodyPr anchor="b"/>
          <a:lstStyle>
            <a:lvl1pPr algn="l">
              <a:defRPr sz="2400" b="0"/>
            </a:lvl1pPr>
          </a:lstStyle>
          <a:p>
            <a:r>
              <a:rPr lang="fr-FR" smtClean="0"/>
              <a:t>Modifiez le style du titre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a:xfrm>
            <a:off x="1154955" y="3129280"/>
            <a:ext cx="34010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7" name="Date Placeholder 4"/>
          <p:cNvSpPr>
            <a:spLocks noGrp="1"/>
          </p:cNvSpPr>
          <p:nvPr>
            <p:ph type="dt" sz="half" idx="10"/>
          </p:nvPr>
        </p:nvSpPr>
        <p:spPr/>
        <p:txBody>
          <a:bodyPr/>
          <a:lstStyle/>
          <a:p>
            <a:fld id="{4509A250-FF31-4206-8172-F9D3106AACB1}" type="datetimeFigureOut">
              <a:rPr lang="en-US" dirty="0"/>
              <a:t>4/6/2021</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Date Placeholder 4"/>
          <p:cNvSpPr>
            <a:spLocks noGrp="1"/>
          </p:cNvSpPr>
          <p:nvPr>
            <p:ph type="dt" sz="half" idx="10"/>
          </p:nvPr>
        </p:nvSpPr>
        <p:spPr/>
        <p:txBody>
          <a:bodyPr/>
          <a:lstStyle/>
          <a:p>
            <a:fld id="{4509A250-FF31-4206-8172-F9D3106AACB1}" type="datetimeFigureOut">
              <a:rPr lang="en-US" dirty="0"/>
              <a:t>4/6/2021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1154955" y="685799"/>
            <a:ext cx="8825658" cy="3640667"/>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Date Placeholder 4"/>
          <p:cNvSpPr>
            <a:spLocks noGrp="1"/>
          </p:cNvSpPr>
          <p:nvPr>
            <p:ph type="dt" sz="half" idx="10"/>
          </p:nvPr>
        </p:nvSpPr>
        <p:spPr/>
        <p:txBody>
          <a:bodyPr/>
          <a:lstStyle/>
          <a:p>
            <a:fld id="{4509A250-FF31-4206-8172-F9D3106AACB1}" type="datetimeFigureOut">
              <a:rPr lang="en-US" dirty="0"/>
              <a:t>4/6/2021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fr-FR" smtClean="0"/>
              <a:t>Modifiez le style du titre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4509A250-FF31-4206-8172-F9D3106AACB1}" type="datetimeFigureOut">
              <a:rPr lang="en-US" dirty="0"/>
              <a:t>4/6/2021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574800" y="1447800"/>
            <a:ext cx="7999315" cy="2323374"/>
          </a:xfrm>
        </p:spPr>
        <p:txBody>
          <a:bodyPr/>
          <a:lstStyle>
            <a:lvl1pPr>
              <a:defRPr sz="4800"/>
            </a:lvl1pPr>
          </a:lstStyle>
          <a:p>
            <a:r>
              <a:rPr lang="fr-FR" smtClean="0"/>
              <a:t>Modifiez le style du titre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lumMod val="60000"/>
                    <a:lumOff val="4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4509A250-FF31-4206-8172-F9D3106AACB1}" type="datetimeFigureOut">
              <a:rPr lang="en-US" dirty="0"/>
              <a:t>4/6/2021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
        <p:nvSpPr>
          <p:cNvPr id="11" name="TextBox 10"/>
          <p:cNvSpPr txBox="1"/>
          <p:nvPr/>
        </p:nvSpPr>
        <p:spPr>
          <a:xfrm>
            <a:off x="9330490" y="2613787"/>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59" cy="1653180"/>
          </a:xfrm>
        </p:spPr>
        <p:txBody>
          <a:bodyPr anchor="b"/>
          <a:lstStyle>
            <a:lvl1pPr algn="l">
              <a:defRPr sz="4000" b="0" cap="none"/>
            </a:lvl1pPr>
          </a:lstStyle>
          <a:p>
            <a:r>
              <a:rPr lang="fr-FR" smtClean="0"/>
              <a:t>Modifiez le style du titre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4509A250-FF31-4206-8172-F9D3106AACB1}" type="datetimeFigureOut">
              <a:rPr lang="en-US" dirty="0"/>
              <a:t>4/6/2021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fr-FR" smtClean="0"/>
              <a:t>Modifiez le style du titre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4/6/2021</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fr-FR" smtClean="0"/>
              <a:t>Modifiez le style du titre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4/6/2021</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Vertical Text Placeholder 2"/>
          <p:cNvSpPr>
            <a:spLocks noGrp="1"/>
          </p:cNvSpPr>
          <p:nvPr>
            <p:ph type="body" orient="vert" idx="1"/>
          </p:nvPr>
        </p:nvSpPr>
        <p:spPr/>
        <p:txBody>
          <a:bodyPr vert="eaVert" anchor="t" anchorCtr="0"/>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4/6/2021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fr-FR" smtClean="0"/>
              <a:t>Modifiez le style du titre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4/6/2021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fr-FR" smtClean="0"/>
              <a:t>Modifiez le style du titre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4/6/2021</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‹N°›</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hyperlink" Target="https://fr.wikipedia.org/wiki/PostgreSQL" TargetMode="External"/><Relationship Id="rId13" Type="http://schemas.openxmlformats.org/officeDocument/2006/relationships/hyperlink" Target="https://fr.wikipedia.org/wiki/Alphabet_phon%C3%A9tique_international" TargetMode="External"/><Relationship Id="rId3" Type="http://schemas.openxmlformats.org/officeDocument/2006/relationships/hyperlink" Target="https://fr.wikipedia.org/wiki/Licence_publique_g%C3%A9n%C3%A9rale_GNU" TargetMode="External"/><Relationship Id="rId7" Type="http://schemas.openxmlformats.org/officeDocument/2006/relationships/hyperlink" Target="https://fr.wikipedia.org/wiki/Oracle_Database" TargetMode="External"/><Relationship Id="rId12" Type="http://schemas.openxmlformats.org/officeDocument/2006/relationships/hyperlink" Target="https://sv.wikipedia.org/wiki/My_(namn)" TargetMode="External"/><Relationship Id="rId17" Type="http://schemas.openxmlformats.org/officeDocument/2006/relationships/hyperlink" Target="https://fr.wikipedia.org/wiki/Processus_l%C3%A9ger" TargetMode="External"/><Relationship Id="rId2" Type="http://schemas.openxmlformats.org/officeDocument/2006/relationships/hyperlink" Target="https://fr.wikipedia.org/wiki/Syst%C3%A8me_de_gestion_de_base_de_donn%C3%A9es" TargetMode="External"/><Relationship Id="rId16" Type="http://schemas.openxmlformats.org/officeDocument/2006/relationships/hyperlink" Target="https://fr.wikipedia.org/wiki/Base_de_donn%C3%A9es_relationnelle" TargetMode="External"/><Relationship Id="rId1" Type="http://schemas.openxmlformats.org/officeDocument/2006/relationships/slideLayout" Target="../slideLayouts/slideLayout1.xml"/><Relationship Id="rId6" Type="http://schemas.openxmlformats.org/officeDocument/2006/relationships/hyperlink" Target="https://fr.wikipedia.org/wiki/MySQL#cite_note-3" TargetMode="External"/><Relationship Id="rId11" Type="http://schemas.openxmlformats.org/officeDocument/2006/relationships/hyperlink" Target="https://fr.wikipedia.org/w/index.php?title=My_(pr%C3%A9nom)&amp;action=edit&amp;redlink=1" TargetMode="External"/><Relationship Id="rId5" Type="http://schemas.openxmlformats.org/officeDocument/2006/relationships/hyperlink" Target="https://fr.wikipedia.org/wiki/Base_de_donn%C3%A9es" TargetMode="External"/><Relationship Id="rId15" Type="http://schemas.openxmlformats.org/officeDocument/2006/relationships/hyperlink" Target="https://fr.wikipedia.org/wiki/Langage_de_requ%C3%AAte" TargetMode="External"/><Relationship Id="rId10" Type="http://schemas.openxmlformats.org/officeDocument/2006/relationships/hyperlink" Target="https://fr.wikipedia.org/wiki/Michael_Widenius" TargetMode="External"/><Relationship Id="rId4" Type="http://schemas.openxmlformats.org/officeDocument/2006/relationships/hyperlink" Target="https://fr.wikipedia.org/wiki/Logiciel_propri%C3%A9taire" TargetMode="External"/><Relationship Id="rId9" Type="http://schemas.openxmlformats.org/officeDocument/2006/relationships/hyperlink" Target="https://fr.wikipedia.org/wiki/Microsoft_SQL_Server" TargetMode="External"/><Relationship Id="rId14" Type="http://schemas.openxmlformats.org/officeDocument/2006/relationships/hyperlink" Target="https://fr.wikipedia.org/wiki/Structured_Query_Language" TargetMode="External"/></Relationships>
</file>

<file path=ppt/slides/_rels/slide3.xml.rels><?xml version="1.0" encoding="UTF-8" standalone="yes"?>
<Relationships xmlns="http://schemas.openxmlformats.org/package/2006/relationships"><Relationship Id="rId8" Type="http://schemas.openxmlformats.org/officeDocument/2006/relationships/hyperlink" Target="https://fr.wikipedia.org/wiki/MariaDB" TargetMode="External"/><Relationship Id="rId13" Type="http://schemas.openxmlformats.org/officeDocument/2006/relationships/hyperlink" Target="https://fr.wikipedia.org/wiki/DB2" TargetMode="External"/><Relationship Id="rId3" Type="http://schemas.openxmlformats.org/officeDocument/2006/relationships/hyperlink" Target="https://fr.wikipedia.org/wiki/Base_de_donn%C3%A9es_relationnelle" TargetMode="External"/><Relationship Id="rId7" Type="http://schemas.openxmlformats.org/officeDocument/2006/relationships/hyperlink" Target="https://fr.wikipedia.org/wiki/Licence_BSD" TargetMode="External"/><Relationship Id="rId12" Type="http://schemas.openxmlformats.org/officeDocument/2006/relationships/hyperlink" Target="https://fr.wikipedia.org/wiki/Sybase" TargetMode="External"/><Relationship Id="rId17" Type="http://schemas.openxmlformats.org/officeDocument/2006/relationships/hyperlink" Target="https://fr.wikipedia.org/wiki/Linux" TargetMode="External"/><Relationship Id="rId2" Type="http://schemas.openxmlformats.org/officeDocument/2006/relationships/hyperlink" Target="https://fr.wikipedia.org/wiki/Syst%C3%A8me_de_gestion_de_base_de_donn%C3%A9es" TargetMode="External"/><Relationship Id="rId16" Type="http://schemas.openxmlformats.org/officeDocument/2006/relationships/hyperlink" Target="https://fr.wikipedia.org/wiki/Apache_HTTP_Server" TargetMode="External"/><Relationship Id="rId1" Type="http://schemas.openxmlformats.org/officeDocument/2006/relationships/slideLayout" Target="../slideLayouts/slideLayout2.xml"/><Relationship Id="rId6" Type="http://schemas.openxmlformats.org/officeDocument/2006/relationships/hyperlink" Target="https://fr.wikipedia.org/wiki/Logiciel_libre" TargetMode="External"/><Relationship Id="rId11" Type="http://schemas.openxmlformats.org/officeDocument/2006/relationships/hyperlink" Target="https://fr.wikipedia.org/wiki/MySQL" TargetMode="External"/><Relationship Id="rId5" Type="http://schemas.openxmlformats.org/officeDocument/2006/relationships/hyperlink" Target="https://fr.wikipedia.org/wiki/Syst%C3%A8me_de_gestion_de_base_de_donn%C3%A9es_relationnel-objet" TargetMode="External"/><Relationship Id="rId15" Type="http://schemas.openxmlformats.org/officeDocument/2006/relationships/hyperlink" Target="https://fr.wikipedia.org/wiki/Microsoft_SQL_Server" TargetMode="External"/><Relationship Id="rId10" Type="http://schemas.openxmlformats.org/officeDocument/2006/relationships/hyperlink" Target="https://fr.wikipedia.org/wiki/Oracle_(base_de_donn%C3%A9es)" TargetMode="External"/><Relationship Id="rId4" Type="http://schemas.openxmlformats.org/officeDocument/2006/relationships/hyperlink" Target="https://fr.wikipedia.org/wiki/Base_de_donn%C3%A9es_orient%C3%A9e_objet" TargetMode="External"/><Relationship Id="rId9" Type="http://schemas.openxmlformats.org/officeDocument/2006/relationships/hyperlink" Target="https://fr.wikipedia.org/wiki/Firebird_(SGBDR)" TargetMode="External"/><Relationship Id="rId14" Type="http://schemas.openxmlformats.org/officeDocument/2006/relationships/hyperlink" Target="https://fr.wikipedia.org/wiki/Informix"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fr.wikipedia.org/wiki/Structured_Query_Language" TargetMode="External"/><Relationship Id="rId7" Type="http://schemas.openxmlformats.org/officeDocument/2006/relationships/hyperlink" Target="https://fr.wikipedia.org/wiki/Microsoft_SQL_Server#cite_note-2" TargetMode="External"/><Relationship Id="rId2" Type="http://schemas.openxmlformats.org/officeDocument/2006/relationships/hyperlink" Target="https://fr.wikipedia.org/wiki/Syst%C3%A8me_de_gestion_de_base_de_donn%C3%A9es" TargetMode="External"/><Relationship Id="rId1" Type="http://schemas.openxmlformats.org/officeDocument/2006/relationships/slideLayout" Target="../slideLayouts/slideLayout2.xml"/><Relationship Id="rId6" Type="http://schemas.openxmlformats.org/officeDocument/2006/relationships/hyperlink" Target="https://fr.wikipedia.org/wiki/Docker_(logiciel)" TargetMode="External"/><Relationship Id="rId5" Type="http://schemas.openxmlformats.org/officeDocument/2006/relationships/hyperlink" Target="https://fr.wikipedia.org/wiki/Microsoft" TargetMode="External"/><Relationship Id="rId4" Type="http://schemas.openxmlformats.org/officeDocument/2006/relationships/hyperlink" Target="https://fr.wikipedia.org/wiki/Base_de_donn%C3%A9es_relationnell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43080" y="929236"/>
            <a:ext cx="9404723" cy="1400530"/>
          </a:xfrm>
        </p:spPr>
        <p:txBody>
          <a:bodyPr/>
          <a:lstStyle/>
          <a:p>
            <a:r>
              <a:rPr lang="en-US" sz="4800" dirty="0">
                <a:solidFill>
                  <a:srgbClr val="FFC000"/>
                </a:solidFill>
                <a:latin typeface="Algerian" panose="04020705040A02060702" pitchFamily="82" charset="0"/>
              </a:rPr>
              <a:t>a presentation that deals with 3 well known relational RDBMS  which are MySQL, PostgreSQL and SQL SERVER .</a:t>
            </a:r>
            <a:endParaRPr lang="fr-FR" sz="4800" dirty="0">
              <a:solidFill>
                <a:srgbClr val="FFC000"/>
              </a:solidFill>
              <a:latin typeface="Algerian" panose="04020705040A02060702" pitchFamily="82" charset="0"/>
            </a:endParaRPr>
          </a:p>
        </p:txBody>
      </p:sp>
    </p:spTree>
    <p:extLst>
      <p:ext uri="{BB962C8B-B14F-4D97-AF65-F5344CB8AC3E}">
        <p14:creationId xmlns:p14="http://schemas.microsoft.com/office/powerpoint/2010/main" val="10040957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498132" y="1911439"/>
            <a:ext cx="8825658" cy="3329581"/>
          </a:xfrm>
        </p:spPr>
        <p:txBody>
          <a:bodyPr/>
          <a:lstStyle/>
          <a:p>
            <a:r>
              <a:rPr lang="fr-FR" sz="1400" b="1" dirty="0"/>
              <a:t>MySQL</a:t>
            </a:r>
            <a:r>
              <a:rPr lang="fr-FR" sz="1400" dirty="0"/>
              <a:t> </a:t>
            </a:r>
            <a:r>
              <a:rPr lang="fr-FR" sz="1400" dirty="0" smtClean="0"/>
              <a:t>est </a:t>
            </a:r>
            <a:r>
              <a:rPr lang="fr-FR" sz="1400" dirty="0"/>
              <a:t>un </a:t>
            </a:r>
            <a:r>
              <a:rPr lang="fr-FR" sz="1400" dirty="0">
                <a:hlinkClick r:id="rId2" tooltip="Système de gestion de base de données"/>
              </a:rPr>
              <a:t>système de gestion de bases de données</a:t>
            </a:r>
            <a:r>
              <a:rPr lang="fr-FR" sz="1400" dirty="0"/>
              <a:t> relationnelles (SGBDR). Il est distribué sous une double licence </a:t>
            </a:r>
            <a:r>
              <a:rPr lang="fr-FR" sz="1400" dirty="0">
                <a:hlinkClick r:id="rId3" tooltip="Licence publique générale GNU"/>
              </a:rPr>
              <a:t>GPL</a:t>
            </a:r>
            <a:r>
              <a:rPr lang="fr-FR" sz="1400" dirty="0"/>
              <a:t> et </a:t>
            </a:r>
            <a:r>
              <a:rPr lang="fr-FR" sz="1400" dirty="0">
                <a:hlinkClick r:id="rId4" tooltip="Logiciel propriétaire"/>
              </a:rPr>
              <a:t>propriétaire</a:t>
            </a:r>
            <a:r>
              <a:rPr lang="fr-FR" sz="1400" dirty="0"/>
              <a:t>. Il fait partie des logiciels de gestion de </a:t>
            </a:r>
            <a:r>
              <a:rPr lang="fr-FR" sz="1400" dirty="0">
                <a:hlinkClick r:id="rId5" tooltip="Base de données"/>
              </a:rPr>
              <a:t>base de données</a:t>
            </a:r>
            <a:r>
              <a:rPr lang="fr-FR" sz="1400" dirty="0"/>
              <a:t> les plus utilisés au monde</a:t>
            </a:r>
            <a:r>
              <a:rPr lang="fr-FR" sz="1400" baseline="30000" dirty="0">
                <a:hlinkClick r:id="rId6"/>
              </a:rPr>
              <a:t>3</a:t>
            </a:r>
            <a:r>
              <a:rPr lang="fr-FR" sz="1400" dirty="0"/>
              <a:t>, autant par le grand public (applications web principalement) que par des professionnels, en concurrence avec </a:t>
            </a:r>
            <a:r>
              <a:rPr lang="fr-FR" sz="1400" dirty="0">
                <a:hlinkClick r:id="rId7" tooltip="Oracle Database"/>
              </a:rPr>
              <a:t>Oracle</a:t>
            </a:r>
            <a:r>
              <a:rPr lang="fr-FR" sz="1400" dirty="0"/>
              <a:t>, </a:t>
            </a:r>
            <a:r>
              <a:rPr lang="fr-FR" sz="1400" dirty="0">
                <a:hlinkClick r:id="rId8" tooltip="PostgreSQL"/>
              </a:rPr>
              <a:t>PostgreSQL</a:t>
            </a:r>
            <a:r>
              <a:rPr lang="fr-FR" sz="1400" dirty="0"/>
              <a:t> et </a:t>
            </a:r>
            <a:r>
              <a:rPr lang="fr-FR" sz="1400" dirty="0">
                <a:hlinkClick r:id="rId9" tooltip="Microsoft SQL Server"/>
              </a:rPr>
              <a:t>Microsoft SQL Server</a:t>
            </a:r>
            <a:r>
              <a:rPr lang="fr-FR" sz="1400" dirty="0"/>
              <a:t>.</a:t>
            </a:r>
            <a:br>
              <a:rPr lang="fr-FR" sz="1400" dirty="0"/>
            </a:br>
            <a:r>
              <a:rPr lang="fr-FR" sz="1400" dirty="0"/>
              <a:t>Son nom vient du prénom de la fille du cocréateur </a:t>
            </a:r>
            <a:r>
              <a:rPr lang="fr-FR" sz="1400" dirty="0">
                <a:hlinkClick r:id="rId10" tooltip="Michael Widenius"/>
              </a:rPr>
              <a:t>Michael Widenius</a:t>
            </a:r>
            <a:r>
              <a:rPr lang="fr-FR" sz="1400" dirty="0"/>
              <a:t>, </a:t>
            </a:r>
            <a:r>
              <a:rPr lang="fr-FR" sz="1400" dirty="0">
                <a:hlinkClick r:id="rId11" tooltip="My (prénom) (page inexistante)"/>
              </a:rPr>
              <a:t>My</a:t>
            </a:r>
            <a:r>
              <a:rPr lang="fr-FR" sz="1400" dirty="0"/>
              <a:t> </a:t>
            </a:r>
            <a:r>
              <a:rPr lang="fr-FR" sz="1400" b="1" dirty="0">
                <a:hlinkClick r:id="rId12" tooltip="sv:My (namn)"/>
              </a:rPr>
              <a:t>(sv)</a:t>
            </a:r>
            <a:r>
              <a:rPr lang="fr-FR" sz="1400" dirty="0"/>
              <a:t> (prononcer [</a:t>
            </a:r>
            <a:r>
              <a:rPr lang="fr-FR" sz="1400" dirty="0">
                <a:hlinkClick r:id="rId13" tooltip="Alphabet phonétique international"/>
              </a:rPr>
              <a:t>my</a:t>
            </a:r>
            <a:r>
              <a:rPr lang="fr-FR" sz="1400" dirty="0"/>
              <a:t>]). SQL fait référence au </a:t>
            </a:r>
            <a:r>
              <a:rPr lang="fr-FR" sz="1400" i="1" dirty="0">
                <a:hlinkClick r:id="rId14" tooltip="Structured Query Language"/>
              </a:rPr>
              <a:t>Structured Query Language</a:t>
            </a:r>
            <a:r>
              <a:rPr lang="fr-FR" sz="1400" dirty="0"/>
              <a:t>, le </a:t>
            </a:r>
            <a:r>
              <a:rPr lang="fr-FR" sz="1400" dirty="0">
                <a:hlinkClick r:id="rId15" tooltip="Langage de requête"/>
              </a:rPr>
              <a:t>langage de requête</a:t>
            </a:r>
            <a:r>
              <a:rPr lang="fr-FR" sz="1400" dirty="0"/>
              <a:t> utilisé</a:t>
            </a:r>
            <a:r>
              <a:rPr lang="fr-FR" sz="1400" dirty="0" smtClean="0"/>
              <a:t>.</a:t>
            </a:r>
            <a:br>
              <a:rPr lang="fr-FR" sz="1400" dirty="0" smtClean="0"/>
            </a:br>
            <a:r>
              <a:rPr lang="fr-FR" sz="1400" dirty="0" smtClean="0"/>
              <a:t/>
            </a:r>
            <a:br>
              <a:rPr lang="fr-FR" sz="1400" dirty="0" smtClean="0"/>
            </a:br>
            <a:r>
              <a:rPr lang="fr-FR" sz="1400" dirty="0"/>
              <a:t>MySQL est un serveur de </a:t>
            </a:r>
            <a:r>
              <a:rPr lang="fr-FR" sz="1400" dirty="0">
                <a:hlinkClick r:id="rId16" tooltip="Base de données relationnelle"/>
              </a:rPr>
              <a:t>bases de données relationnelles</a:t>
            </a:r>
            <a:r>
              <a:rPr lang="fr-FR" sz="1400" dirty="0"/>
              <a:t> </a:t>
            </a:r>
            <a:r>
              <a:rPr lang="fr-FR" sz="1400" dirty="0">
                <a:hlinkClick r:id="rId14" tooltip="Structured Query Language"/>
              </a:rPr>
              <a:t>SQL</a:t>
            </a:r>
            <a:r>
              <a:rPr lang="fr-FR" sz="1400" dirty="0"/>
              <a:t> développé dans un souci de performances élevées en lecture, ce qui signifie qu'il est davantage orienté vers le service de données déjà en place que vers celui de mises à jour fréquentes et fortement sécurisées. Il est </a:t>
            </a:r>
            <a:r>
              <a:rPr lang="fr-FR" sz="1400" dirty="0">
                <a:hlinkClick r:id="rId17" tooltip="Processus léger"/>
              </a:rPr>
              <a:t>multi-thread</a:t>
            </a:r>
            <a:r>
              <a:rPr lang="fr-FR" sz="1400" dirty="0"/>
              <a:t> et multi-utilisateur.</a:t>
            </a:r>
            <a:r>
              <a:rPr lang="fr-FR" sz="1400" dirty="0" smtClean="0"/>
              <a:t/>
            </a:r>
            <a:br>
              <a:rPr lang="fr-FR" sz="1400" dirty="0" smtClean="0"/>
            </a:br>
            <a:r>
              <a:rPr lang="fr-FR" sz="1400" dirty="0"/>
              <a:t/>
            </a:r>
            <a:br>
              <a:rPr lang="fr-FR" sz="1400" dirty="0"/>
            </a:br>
            <a:r>
              <a:rPr lang="fr-FR" sz="1400" dirty="0" smtClean="0"/>
              <a:t/>
            </a:r>
            <a:br>
              <a:rPr lang="fr-FR" sz="1400" dirty="0" smtClean="0"/>
            </a:br>
            <a:r>
              <a:rPr lang="fr-FR" sz="1400" dirty="0"/>
              <a:t/>
            </a:r>
            <a:br>
              <a:rPr lang="fr-FR" sz="1400" dirty="0"/>
            </a:br>
            <a:r>
              <a:rPr lang="fr-FR" sz="1400" dirty="0" smtClean="0"/>
              <a:t/>
            </a:r>
            <a:br>
              <a:rPr lang="fr-FR" sz="1400" dirty="0" smtClean="0"/>
            </a:br>
            <a:endParaRPr lang="fr-FR" sz="1400" dirty="0"/>
          </a:p>
        </p:txBody>
      </p:sp>
      <p:sp>
        <p:nvSpPr>
          <p:cNvPr id="3" name="Sous-titre 2"/>
          <p:cNvSpPr>
            <a:spLocks noGrp="1"/>
          </p:cNvSpPr>
          <p:nvPr>
            <p:ph type="subTitle" idx="1"/>
          </p:nvPr>
        </p:nvSpPr>
        <p:spPr>
          <a:xfrm>
            <a:off x="498132" y="308411"/>
            <a:ext cx="8825658" cy="861420"/>
          </a:xfrm>
        </p:spPr>
        <p:txBody>
          <a:bodyPr>
            <a:normAutofit/>
          </a:bodyPr>
          <a:lstStyle/>
          <a:p>
            <a:r>
              <a:rPr lang="fr-FR" sz="4000" b="1" i="1" u="sng" dirty="0" smtClean="0"/>
              <a:t>Présentation MySQL :</a:t>
            </a:r>
            <a:endParaRPr lang="fr-FR" sz="4000" b="1" i="1" u="sng" dirty="0"/>
          </a:p>
        </p:txBody>
      </p:sp>
    </p:spTree>
    <p:extLst>
      <p:ext uri="{BB962C8B-B14F-4D97-AF65-F5344CB8AC3E}">
        <p14:creationId xmlns:p14="http://schemas.microsoft.com/office/powerpoint/2010/main" val="30400938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z="5400" b="1" i="1" dirty="0" smtClean="0">
                <a:solidFill>
                  <a:schemeClr val="accent2"/>
                </a:solidFill>
                <a:latin typeface="Agency FB" panose="020B0503020202020204" pitchFamily="34" charset="0"/>
              </a:rPr>
              <a:t>PostgreSQL :</a:t>
            </a:r>
            <a:r>
              <a:rPr lang="fr-FR" dirty="0"/>
              <a:t/>
            </a:r>
            <a:br>
              <a:rPr lang="fr-FR" dirty="0"/>
            </a:br>
            <a:endParaRPr lang="fr-FR" dirty="0"/>
          </a:p>
        </p:txBody>
      </p:sp>
      <p:sp>
        <p:nvSpPr>
          <p:cNvPr id="3" name="Espace réservé du contenu 2"/>
          <p:cNvSpPr>
            <a:spLocks noGrp="1"/>
          </p:cNvSpPr>
          <p:nvPr>
            <p:ph idx="1"/>
          </p:nvPr>
        </p:nvSpPr>
        <p:spPr/>
        <p:txBody>
          <a:bodyPr/>
          <a:lstStyle/>
          <a:p>
            <a:r>
              <a:rPr lang="fr-FR" sz="1400" b="1" dirty="0"/>
              <a:t>PostgreSQL</a:t>
            </a:r>
            <a:r>
              <a:rPr lang="fr-FR" sz="1400" dirty="0"/>
              <a:t> est un </a:t>
            </a:r>
            <a:r>
              <a:rPr lang="fr-FR" sz="1400" dirty="0">
                <a:hlinkClick r:id="rId2" tooltip="Système de gestion de base de données"/>
              </a:rPr>
              <a:t>système de gestion de base de données</a:t>
            </a:r>
            <a:r>
              <a:rPr lang="fr-FR" sz="1400" dirty="0"/>
              <a:t> </a:t>
            </a:r>
            <a:r>
              <a:rPr lang="fr-FR" sz="1400" dirty="0">
                <a:hlinkClick r:id="rId3" tooltip="Base de données relationnelle"/>
              </a:rPr>
              <a:t>relationnelle</a:t>
            </a:r>
            <a:r>
              <a:rPr lang="fr-FR" sz="1400" dirty="0"/>
              <a:t> et </a:t>
            </a:r>
            <a:r>
              <a:rPr lang="fr-FR" sz="1400" dirty="0">
                <a:hlinkClick r:id="rId4" tooltip="Base de données orientée objet"/>
              </a:rPr>
              <a:t>objet</a:t>
            </a:r>
            <a:r>
              <a:rPr lang="fr-FR" sz="1400" dirty="0"/>
              <a:t> (</a:t>
            </a:r>
            <a:r>
              <a:rPr lang="fr-FR" sz="1400" dirty="0">
                <a:hlinkClick r:id="rId5" tooltip="Système de gestion de base de données relationnel-objet"/>
              </a:rPr>
              <a:t>SGBDRO</a:t>
            </a:r>
            <a:r>
              <a:rPr lang="fr-FR" sz="1400" dirty="0"/>
              <a:t>). C'est un outil </a:t>
            </a:r>
            <a:r>
              <a:rPr lang="fr-FR" sz="1400" dirty="0">
                <a:hlinkClick r:id="rId6" tooltip="Logiciel libre"/>
              </a:rPr>
              <a:t>libre</a:t>
            </a:r>
            <a:r>
              <a:rPr lang="fr-FR" sz="1400" dirty="0"/>
              <a:t> disponible selon les termes d'une licence de type </a:t>
            </a:r>
            <a:r>
              <a:rPr lang="fr-FR" sz="1400" dirty="0">
                <a:hlinkClick r:id="rId7" tooltip="Licence BSD"/>
              </a:rPr>
              <a:t>BSD</a:t>
            </a:r>
            <a:r>
              <a:rPr lang="fr-FR" sz="1400" dirty="0"/>
              <a:t>.</a:t>
            </a:r>
          </a:p>
          <a:p>
            <a:r>
              <a:rPr lang="fr-FR" sz="1400" dirty="0"/>
              <a:t>Ce système est concurrent d'autres systèmes de gestion de base de données, qu'ils soient libres (comme </a:t>
            </a:r>
            <a:r>
              <a:rPr lang="fr-FR" sz="1400" dirty="0">
                <a:hlinkClick r:id="rId8" tooltip="MariaDB"/>
              </a:rPr>
              <a:t>MariaDB</a:t>
            </a:r>
            <a:r>
              <a:rPr lang="fr-FR" sz="1400" dirty="0"/>
              <a:t> et </a:t>
            </a:r>
            <a:r>
              <a:rPr lang="fr-FR" sz="1400" dirty="0">
                <a:hlinkClick r:id="rId9" tooltip="Firebird (SGBDR)"/>
              </a:rPr>
              <a:t>Firebird</a:t>
            </a:r>
            <a:r>
              <a:rPr lang="fr-FR" sz="1400" dirty="0"/>
              <a:t>), ou propriétaires (comme </a:t>
            </a:r>
            <a:r>
              <a:rPr lang="fr-FR" sz="1400" dirty="0">
                <a:hlinkClick r:id="rId10" tooltip="Oracle (base de données)"/>
              </a:rPr>
              <a:t>Oracle</a:t>
            </a:r>
            <a:r>
              <a:rPr lang="fr-FR" sz="1400" dirty="0"/>
              <a:t>, </a:t>
            </a:r>
            <a:r>
              <a:rPr lang="fr-FR" sz="1400" dirty="0">
                <a:hlinkClick r:id="rId11" tooltip="MySQL"/>
              </a:rPr>
              <a:t>MySQL</a:t>
            </a:r>
            <a:r>
              <a:rPr lang="fr-FR" sz="1400" dirty="0"/>
              <a:t>, </a:t>
            </a:r>
            <a:r>
              <a:rPr lang="fr-FR" sz="1400" dirty="0">
                <a:hlinkClick r:id="rId12" tooltip="Sybase"/>
              </a:rPr>
              <a:t>Sybase</a:t>
            </a:r>
            <a:r>
              <a:rPr lang="fr-FR" sz="1400" dirty="0"/>
              <a:t>, </a:t>
            </a:r>
            <a:r>
              <a:rPr lang="fr-FR" sz="1400" dirty="0">
                <a:hlinkClick r:id="rId13" tooltip="DB2"/>
              </a:rPr>
              <a:t>DB2</a:t>
            </a:r>
            <a:r>
              <a:rPr lang="fr-FR" sz="1400" dirty="0"/>
              <a:t>, </a:t>
            </a:r>
            <a:r>
              <a:rPr lang="fr-FR" sz="1400" dirty="0">
                <a:hlinkClick r:id="rId14" tooltip="Informix"/>
              </a:rPr>
              <a:t>Informix</a:t>
            </a:r>
            <a:r>
              <a:rPr lang="fr-FR" sz="1400" dirty="0"/>
              <a:t> et </a:t>
            </a:r>
            <a:r>
              <a:rPr lang="fr-FR" sz="1400" dirty="0">
                <a:hlinkClick r:id="rId15" tooltip="Microsoft SQL Server"/>
              </a:rPr>
              <a:t>Microsoft SQL Server</a:t>
            </a:r>
            <a:r>
              <a:rPr lang="fr-FR" sz="1400" dirty="0"/>
              <a:t>). Comme les projets libres </a:t>
            </a:r>
            <a:r>
              <a:rPr lang="fr-FR" sz="1400" dirty="0">
                <a:hlinkClick r:id="rId16" tooltip="Apache HTTP Server"/>
              </a:rPr>
              <a:t>Apache</a:t>
            </a:r>
            <a:r>
              <a:rPr lang="fr-FR" sz="1400" dirty="0"/>
              <a:t> et </a:t>
            </a:r>
            <a:r>
              <a:rPr lang="fr-FR" sz="1400" dirty="0">
                <a:hlinkClick r:id="rId17" tooltip="Linux"/>
              </a:rPr>
              <a:t>Linux</a:t>
            </a:r>
            <a:r>
              <a:rPr lang="fr-FR" sz="1400" dirty="0"/>
              <a:t>, PostgreSQL n'est pas contrôlé par une seule entreprise, mais est fondé sur une communauté mondiale de développeurs et d'entreprises</a:t>
            </a:r>
            <a:r>
              <a:rPr lang="fr-FR" sz="1400" dirty="0" smtClean="0"/>
              <a:t>.</a:t>
            </a:r>
          </a:p>
          <a:p>
            <a:endParaRPr lang="fr-FR" sz="1400" dirty="0"/>
          </a:p>
          <a:p>
            <a:r>
              <a:rPr lang="fr-FR" sz="1400" dirty="0"/>
              <a:t>Ce </a:t>
            </a:r>
            <a:r>
              <a:rPr lang="fr-FR" sz="1400" dirty="0">
                <a:hlinkClick r:id="rId5" tooltip="Système de gestion de base de données relationnel-objet"/>
              </a:rPr>
              <a:t>SGBDRO</a:t>
            </a:r>
            <a:r>
              <a:rPr lang="fr-FR" sz="1400" dirty="0"/>
              <a:t> utilise des types de données modernes, dits composés ou enrichis suivant les terminologies utilisées dans le vocable informatique usuel. Ceci signifie que PostgreSQL peut stocker plus de types de données que les types simples traditionnels entiers, caractères, etc. L'utilisateur peut créer des types, des fonctions, utiliser l'héritage de type, etc.</a:t>
            </a:r>
          </a:p>
          <a:p>
            <a:pPr marL="0" indent="0">
              <a:buNone/>
            </a:pPr>
            <a:endParaRPr lang="fr-FR" dirty="0"/>
          </a:p>
        </p:txBody>
      </p:sp>
    </p:spTree>
    <p:extLst>
      <p:ext uri="{BB962C8B-B14F-4D97-AF65-F5344CB8AC3E}">
        <p14:creationId xmlns:p14="http://schemas.microsoft.com/office/powerpoint/2010/main" val="29131299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152589"/>
            <a:ext cx="9404723" cy="1400530"/>
          </a:xfrm>
        </p:spPr>
        <p:txBody>
          <a:bodyPr/>
          <a:lstStyle/>
          <a:p>
            <a:r>
              <a:rPr lang="fr-FR" sz="6600" dirty="0">
                <a:solidFill>
                  <a:schemeClr val="accent2"/>
                </a:solidFill>
              </a:rPr>
              <a:t>SQL </a:t>
            </a:r>
            <a:r>
              <a:rPr lang="fr-FR" sz="6600" dirty="0" smtClean="0">
                <a:solidFill>
                  <a:schemeClr val="accent2"/>
                </a:solidFill>
              </a:rPr>
              <a:t>Server :</a:t>
            </a:r>
            <a:r>
              <a:rPr lang="fr-FR" dirty="0"/>
              <a:t/>
            </a:r>
            <a:br>
              <a:rPr lang="fr-FR" dirty="0"/>
            </a:br>
            <a:endParaRPr lang="fr-FR" dirty="0"/>
          </a:p>
        </p:txBody>
      </p:sp>
      <p:sp>
        <p:nvSpPr>
          <p:cNvPr id="3" name="Espace réservé du contenu 2"/>
          <p:cNvSpPr>
            <a:spLocks noGrp="1"/>
          </p:cNvSpPr>
          <p:nvPr>
            <p:ph idx="1"/>
          </p:nvPr>
        </p:nvSpPr>
        <p:spPr>
          <a:xfrm>
            <a:off x="229090" y="2658226"/>
            <a:ext cx="8946541" cy="5268721"/>
          </a:xfrm>
        </p:spPr>
        <p:txBody>
          <a:bodyPr>
            <a:normAutofit/>
          </a:bodyPr>
          <a:lstStyle/>
          <a:p>
            <a:r>
              <a:rPr lang="fr-FR" sz="1400" b="1" i="1" dirty="0"/>
              <a:t>SQL Server</a:t>
            </a:r>
            <a:r>
              <a:rPr lang="fr-FR" sz="1400" dirty="0"/>
              <a:t> est un </a:t>
            </a:r>
            <a:r>
              <a:rPr lang="fr-FR" sz="1400" dirty="0">
                <a:hlinkClick r:id="rId2" tooltip="Système de gestion de base de données"/>
              </a:rPr>
              <a:t>système de gestion de base de données</a:t>
            </a:r>
            <a:r>
              <a:rPr lang="fr-FR" sz="1400" dirty="0"/>
              <a:t> (SGBD) en langage </a:t>
            </a:r>
            <a:r>
              <a:rPr lang="fr-FR" sz="1400" dirty="0">
                <a:hlinkClick r:id="rId3" tooltip="Structured Query Language"/>
              </a:rPr>
              <a:t>SQL</a:t>
            </a:r>
            <a:r>
              <a:rPr lang="fr-FR" sz="1400" dirty="0"/>
              <a:t> incorporant entre autres un SGBDR (SGBD </a:t>
            </a:r>
            <a:r>
              <a:rPr lang="fr-FR" sz="1400" dirty="0">
                <a:hlinkClick r:id="rId4" tooltip="Base de données relationnelle"/>
              </a:rPr>
              <a:t>relationnel</a:t>
            </a:r>
            <a:r>
              <a:rPr lang="fr-FR" sz="1400" dirty="0"/>
              <a:t> ») développé et commercialisé par la société </a:t>
            </a:r>
            <a:r>
              <a:rPr lang="fr-FR" sz="1400" dirty="0">
                <a:hlinkClick r:id="rId5" tooltip="Microsoft"/>
              </a:rPr>
              <a:t>Microsoft</a:t>
            </a:r>
            <a:r>
              <a:rPr lang="fr-FR" sz="1400" dirty="0"/>
              <a:t>. Il fonctionne sous les OS Windows et Linux (depuis </a:t>
            </a:r>
            <a:r>
              <a:rPr lang="fr-FR" sz="1400" dirty="0"/>
              <a:t>mars 2016</a:t>
            </a:r>
            <a:r>
              <a:rPr lang="fr-FR" sz="1400" dirty="0"/>
              <a:t>), mais il est possible de le lancer sur Mac OS via </a:t>
            </a:r>
            <a:r>
              <a:rPr lang="fr-FR" sz="1400" dirty="0">
                <a:hlinkClick r:id="rId6" tooltip="Docker (logiciel)"/>
              </a:rPr>
              <a:t>Docker</a:t>
            </a:r>
            <a:r>
              <a:rPr lang="fr-FR" sz="1400" dirty="0"/>
              <a:t>, car il en existe une version en téléchargement sur le site de Microsoft</a:t>
            </a:r>
            <a:r>
              <a:rPr lang="fr-FR" sz="1400" baseline="30000" dirty="0">
                <a:hlinkClick r:id="rId7"/>
              </a:rPr>
              <a:t>2</a:t>
            </a:r>
            <a:r>
              <a:rPr lang="fr-FR" sz="1400" dirty="0" smtClean="0"/>
              <a:t>.</a:t>
            </a:r>
          </a:p>
          <a:p>
            <a:r>
              <a:rPr lang="fr-FR" sz="1400" dirty="0"/>
              <a:t>SQL Server héberge deux types de bases de données, les </a:t>
            </a:r>
            <a:r>
              <a:rPr lang="fr-FR" sz="1400" dirty="0" smtClean="0"/>
              <a:t>bases </a:t>
            </a:r>
            <a:r>
              <a:rPr lang="fr-FR" sz="1400" dirty="0"/>
              <a:t>de données </a:t>
            </a:r>
            <a:r>
              <a:rPr lang="fr-FR" sz="1400" dirty="0" smtClean="0"/>
              <a:t>système et les </a:t>
            </a:r>
            <a:r>
              <a:rPr lang="fr-FR" sz="1400" dirty="0"/>
              <a:t>bases de données </a:t>
            </a:r>
            <a:r>
              <a:rPr lang="fr-FR" sz="1400" dirty="0" smtClean="0"/>
              <a:t>utilisateur. </a:t>
            </a:r>
            <a:r>
              <a:rPr lang="fr-FR" sz="1400" dirty="0"/>
              <a:t>Les bases de données </a:t>
            </a:r>
            <a:r>
              <a:rPr lang="fr-FR" sz="1400" dirty="0" smtClean="0"/>
              <a:t>systèmecontiennent </a:t>
            </a:r>
            <a:r>
              <a:rPr lang="fr-FR" sz="1400" dirty="0"/>
              <a:t>des informations nécessaires au bon </a:t>
            </a:r>
            <a:r>
              <a:rPr lang="fr-FR" sz="1400" dirty="0" smtClean="0"/>
              <a:t>fonctionnement </a:t>
            </a:r>
            <a:r>
              <a:rPr lang="fr-FR" sz="1400" dirty="0"/>
              <a:t>du moteur </a:t>
            </a:r>
            <a:r>
              <a:rPr lang="fr-FR" sz="1400" dirty="0" smtClean="0"/>
              <a:t>SQLServer </a:t>
            </a:r>
            <a:r>
              <a:rPr lang="fr-FR" sz="1400" dirty="0"/>
              <a:t>et des services associés. Les bases de données </a:t>
            </a:r>
            <a:r>
              <a:rPr lang="fr-FR" sz="1400" dirty="0" smtClean="0"/>
              <a:t>utilisateur </a:t>
            </a:r>
            <a:r>
              <a:rPr lang="fr-FR" sz="1400" dirty="0"/>
              <a:t>sont les bases de </a:t>
            </a:r>
            <a:r>
              <a:rPr lang="fr-FR" sz="1400" dirty="0" smtClean="0"/>
              <a:t>données </a:t>
            </a:r>
            <a:r>
              <a:rPr lang="fr-FR" sz="1400" dirty="0"/>
              <a:t>créées et utilisées par les utilisateurs.</a:t>
            </a:r>
          </a:p>
          <a:p>
            <a:endParaRPr lang="fr-FR" sz="1400" dirty="0" smtClean="0"/>
          </a:p>
          <a:p>
            <a:endParaRPr lang="fr-FR" sz="1400" dirty="0"/>
          </a:p>
          <a:p>
            <a:endParaRPr lang="fr-FR" sz="1400" dirty="0"/>
          </a:p>
        </p:txBody>
      </p:sp>
    </p:spTree>
    <p:extLst>
      <p:ext uri="{BB962C8B-B14F-4D97-AF65-F5344CB8AC3E}">
        <p14:creationId xmlns:p14="http://schemas.microsoft.com/office/powerpoint/2010/main" val="288682787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EC76B5"/>
      </a:hlink>
      <a:folHlink>
        <a:srgbClr val="E8ACCD"/>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A207AED3-9ABC-4A18-9978-A59B65688B15}"/>
    </a:ext>
  </a:extLst>
</a:theme>
</file>

<file path=docProps/app.xml><?xml version="1.0" encoding="utf-8"?>
<Properties xmlns="http://schemas.openxmlformats.org/officeDocument/2006/extended-properties" xmlns:vt="http://schemas.openxmlformats.org/officeDocument/2006/docPropsVTypes">
  <Template>Ion</Template>
  <TotalTime>17</TotalTime>
  <Words>22</Words>
  <Application>Microsoft Office PowerPoint</Application>
  <PresentationFormat>Grand écran</PresentationFormat>
  <Paragraphs>12</Paragraphs>
  <Slides>4</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4</vt:i4>
      </vt:variant>
    </vt:vector>
  </HeadingPairs>
  <TitlesOfParts>
    <vt:vector size="10" baseType="lpstr">
      <vt:lpstr>Agency FB</vt:lpstr>
      <vt:lpstr>Algerian</vt:lpstr>
      <vt:lpstr>Arial</vt:lpstr>
      <vt:lpstr>Century Gothic</vt:lpstr>
      <vt:lpstr>Wingdings 3</vt:lpstr>
      <vt:lpstr>Ion</vt:lpstr>
      <vt:lpstr>a presentation that deals with 3 well known relational RDBMS  which are MySQL, PostgreSQL and SQL SERVER .</vt:lpstr>
      <vt:lpstr>MySQL est un système de gestion de bases de données relationnelles (SGBDR). Il est distribué sous une double licence GPL et propriétaire. Il fait partie des logiciels de gestion de base de données les plus utilisés au monde3, autant par le grand public (applications web principalement) que par des professionnels, en concurrence avec Oracle, PostgreSQL et Microsoft SQL Server. Son nom vient du prénom de la fille du cocréateur Michael Widenius, My (sv) (prononcer [my]). SQL fait référence au Structured Query Language, le langage de requête utilisé.  MySQL est un serveur de bases de données relationnelles SQL développé dans un souci de performances élevées en lecture, ce qui signifie qu'il est davantage orienté vers le service de données déjà en place que vers celui de mises à jour fréquentes et fortement sécurisées. Il est multi-thread et multi-utilisateur.     </vt:lpstr>
      <vt:lpstr>PostgreSQL : </vt:lpstr>
      <vt:lpstr>SQL Server : </vt:lpstr>
    </vt:vector>
  </TitlesOfParts>
  <Company>HP</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hp</dc:creator>
  <cp:lastModifiedBy>hp</cp:lastModifiedBy>
  <cp:revision>2</cp:revision>
  <dcterms:created xsi:type="dcterms:W3CDTF">2021-04-06T14:24:58Z</dcterms:created>
  <dcterms:modified xsi:type="dcterms:W3CDTF">2021-04-06T14:42:39Z</dcterms:modified>
</cp:coreProperties>
</file>